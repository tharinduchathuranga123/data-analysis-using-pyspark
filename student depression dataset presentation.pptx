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  <p:embeddedFont>
      <p:font typeface="Roboto Bol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3748" y="6596"/>
            <a:ext cx="12251733" cy="45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8"/>
              </a:lnSpc>
              <a:spcBef>
                <a:spcPct val="0"/>
              </a:spcBef>
            </a:pPr>
            <a:r>
              <a:rPr lang="en-US" sz="870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Depression Analysis using PySpark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5619391"/>
            <a:ext cx="8495563" cy="113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 Data-Driven Approach to Student Mental Health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2655" y="2119399"/>
            <a:ext cx="8397219" cy="124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2946" y="3699262"/>
            <a:ext cx="16983467" cy="691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nalyze mental health and depression trends among students.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</a:p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includes: Sleep Duration, Work Pressure, Study Hours, Academic Pressure, Gender, Age, and Depression Status.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</a:p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</a:t>
            </a: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at-risk students and recommend personalized wellness programs.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</a:p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Tools: PySpark, SQL, RDD,  Matplotlib, Seaborn.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</a:p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Steps: Data Cleaning → Analysis → Recommendations → Evaluation → Visualization.</a:t>
            </a:r>
          </a:p>
          <a:p>
            <a:pPr algn="l" marL="607287" indent="-303643" lvl="1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Importance: Data-driven mental health support helps improve student well-being and academic performance.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37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993275"/>
            <a:ext cx="8434945" cy="1293725"/>
            <a:chOff x="0" y="0"/>
            <a:chExt cx="2137108" cy="327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09" y="0"/>
            <a:ext cx="8434945" cy="1293725"/>
            <a:chOff x="0" y="0"/>
            <a:chExt cx="2137108" cy="327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52154" y="6056195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52154" y="3359300"/>
            <a:ext cx="373881" cy="3738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1643" y="1642309"/>
            <a:ext cx="9159658" cy="2538632"/>
          </a:xfrm>
          <a:custGeom>
            <a:avLst/>
            <a:gdLst/>
            <a:ahLst/>
            <a:cxnLst/>
            <a:rect r="r" b="b" t="t" l="l"/>
            <a:pathLst>
              <a:path h="2538632" w="9159658">
                <a:moveTo>
                  <a:pt x="0" y="0"/>
                </a:moveTo>
                <a:lnTo>
                  <a:pt x="9159658" y="0"/>
                </a:lnTo>
                <a:lnTo>
                  <a:pt x="9159658" y="2538632"/>
                </a:lnTo>
                <a:lnTo>
                  <a:pt x="0" y="253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1643" y="5272180"/>
            <a:ext cx="11729505" cy="1568030"/>
          </a:xfrm>
          <a:custGeom>
            <a:avLst/>
            <a:gdLst/>
            <a:ahLst/>
            <a:cxnLst/>
            <a:rect r="r" b="b" t="t" l="l"/>
            <a:pathLst>
              <a:path h="1568030" w="11729505">
                <a:moveTo>
                  <a:pt x="0" y="0"/>
                </a:moveTo>
                <a:lnTo>
                  <a:pt x="11729504" y="0"/>
                </a:lnTo>
                <a:lnTo>
                  <a:pt x="11729504" y="1568030"/>
                </a:lnTo>
                <a:lnTo>
                  <a:pt x="0" y="1568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44" t="-299" r="0" b="-29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87243" y="354872"/>
            <a:ext cx="8072057" cy="255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</a:t>
            </a:r>
            <a:r>
              <a:rPr lang="en-US" b="true" sz="73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braries and Setup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30283" y="3359300"/>
            <a:ext cx="595597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Install</a:t>
            </a: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PySpark and PyDrive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30283" y="6020501"/>
            <a:ext cx="595597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</a:t>
            </a: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up Java environment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44927" y="3015451"/>
            <a:ext cx="10075683" cy="1430706"/>
            <a:chOff x="0" y="0"/>
            <a:chExt cx="4269437" cy="606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69437" cy="606243"/>
            </a:xfrm>
            <a:custGeom>
              <a:avLst/>
              <a:gdLst/>
              <a:ahLst/>
              <a:cxnLst/>
              <a:rect r="r" b="b" t="t" l="l"/>
              <a:pathLst>
                <a:path h="606243" w="4269437">
                  <a:moveTo>
                    <a:pt x="17673" y="0"/>
                  </a:moveTo>
                  <a:lnTo>
                    <a:pt x="4251764" y="0"/>
                  </a:lnTo>
                  <a:cubicBezTo>
                    <a:pt x="4261524" y="0"/>
                    <a:pt x="4269437" y="7912"/>
                    <a:pt x="4269437" y="17673"/>
                  </a:cubicBezTo>
                  <a:lnTo>
                    <a:pt x="4269437" y="588570"/>
                  </a:lnTo>
                  <a:cubicBezTo>
                    <a:pt x="4269437" y="598330"/>
                    <a:pt x="4261524" y="606243"/>
                    <a:pt x="4251764" y="606243"/>
                  </a:cubicBezTo>
                  <a:lnTo>
                    <a:pt x="17673" y="606243"/>
                  </a:lnTo>
                  <a:cubicBezTo>
                    <a:pt x="7912" y="606243"/>
                    <a:pt x="0" y="598330"/>
                    <a:pt x="0" y="588570"/>
                  </a:cubicBezTo>
                  <a:lnTo>
                    <a:pt x="0" y="17673"/>
                  </a:lnTo>
                  <a:cubicBezTo>
                    <a:pt x="0" y="7912"/>
                    <a:pt x="7912" y="0"/>
                    <a:pt x="176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69437" cy="6538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Entry point for Spark</a:t>
              </a:r>
            </a:p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Config shuffle partitions for performance</a:t>
              </a:r>
            </a:p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90681" y="1311725"/>
            <a:ext cx="8194363" cy="11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Spark Session</a:t>
            </a:r>
          </a:p>
        </p:txBody>
      </p:sp>
      <p:grpSp>
        <p:nvGrpSpPr>
          <p:cNvPr name="Group 7" id="7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767869" y="4989082"/>
            <a:ext cx="10711237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from pyspark.sql import SparkSession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spark = SparkSession.builder \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.appName("StudentDepressionAnalysis") \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.config("spark.sql.shuffle.partitions", "8") \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.getOrCreate()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print("✅ Spark Session Started")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print("Spark Version:", spark.version)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1465" y="-2544328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910" y="5063935"/>
            <a:ext cx="11651013" cy="4194365"/>
          </a:xfrm>
          <a:custGeom>
            <a:avLst/>
            <a:gdLst/>
            <a:ahLst/>
            <a:cxnLst/>
            <a:rect r="r" b="b" t="t" l="l"/>
            <a:pathLst>
              <a:path h="4194365" w="11651013">
                <a:moveTo>
                  <a:pt x="0" y="0"/>
                </a:moveTo>
                <a:lnTo>
                  <a:pt x="11651014" y="0"/>
                </a:lnTo>
                <a:lnTo>
                  <a:pt x="11651014" y="4194365"/>
                </a:lnTo>
                <a:lnTo>
                  <a:pt x="0" y="4194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5262" y="2090415"/>
            <a:ext cx="852573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Load Da</a:t>
            </a:r>
            <a:r>
              <a:rPr lang="en-US" b="true" sz="7368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423" y="3447056"/>
            <a:ext cx="9664232" cy="161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856" indent="-333928" lvl="1">
              <a:lnSpc>
                <a:spcPts val="43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</a:t>
            </a:r>
            <a:r>
              <a:rPr lang="en-US" b="true" sz="3093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pload CSV</a:t>
            </a:r>
          </a:p>
          <a:p>
            <a:pPr algn="l" marL="667856" indent="-333928" lvl="1">
              <a:lnSpc>
                <a:spcPts val="43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93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Spark reads structured DataFrame</a:t>
            </a:r>
          </a:p>
          <a:p>
            <a:pPr algn="l" marL="0" indent="0" lvl="0">
              <a:lnSpc>
                <a:spcPts val="43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5150" y="263102"/>
            <a:ext cx="17177026" cy="8995198"/>
            <a:chOff x="0" y="0"/>
            <a:chExt cx="4523990" cy="236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3990" cy="2369106"/>
            </a:xfrm>
            <a:custGeom>
              <a:avLst/>
              <a:gdLst/>
              <a:ahLst/>
              <a:cxnLst/>
              <a:rect r="r" b="b" t="t" l="l"/>
              <a:pathLst>
                <a:path h="2369106" w="452399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Remove missing values</a:t>
              </a:r>
            </a:p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Rename columns for SQL-friendly format</a:t>
              </a:r>
            </a:p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Remove missing values</a:t>
              </a:r>
            </a:p>
            <a:p>
              <a:pPr algn="ctr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Rename columns for SQL-friendly format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df = df.na.drop()</a:t>
              </a:r>
            </a:p>
            <a:p>
              <a:pPr algn="ctr">
                <a:lnSpc>
                  <a:spcPts val="3640"/>
                </a:lnSpc>
              </a:pP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 old_col in df.columns: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new_col = old_col.strip().replace(" ", "_").replace("/", "_").replace("?", "")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df = df.withColumnRenamed(old_col, new_col)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94246" y="3491321"/>
            <a:ext cx="1232084" cy="1232084"/>
          </a:xfrm>
          <a:custGeom>
            <a:avLst/>
            <a:gdLst/>
            <a:ahLst/>
            <a:cxnLst/>
            <a:rect r="r" b="b" t="t" l="l"/>
            <a:pathLst>
              <a:path h="1232084" w="1232084">
                <a:moveTo>
                  <a:pt x="0" y="0"/>
                </a:moveTo>
                <a:lnTo>
                  <a:pt x="1232084" y="0"/>
                </a:lnTo>
                <a:lnTo>
                  <a:pt x="1232084" y="1232084"/>
                </a:lnTo>
                <a:lnTo>
                  <a:pt x="0" y="123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3422550" y="1219545"/>
            <a:ext cx="114429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</a:t>
            </a:r>
            <a:r>
              <a:rPr lang="en-US" b="true" sz="7368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1347" y="2687502"/>
            <a:ext cx="11442900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Remove missing values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Rename columns for SQL-friendly format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1347" y="5095875"/>
            <a:ext cx="11367343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df = df.na.drop()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for old_col in df.columns: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new_col = old_col.strip().replace(" ", "_").replace("/", "_").replace("?", "")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df = df.withColumnRenamed(old_col, new_col)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719553" y="-4023370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3487" y="2086897"/>
            <a:ext cx="6218139" cy="62181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1219" y="2363976"/>
            <a:ext cx="5685609" cy="5688763"/>
            <a:chOff x="0" y="0"/>
            <a:chExt cx="6489360" cy="649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89446" cy="6493002"/>
            </a:xfrm>
            <a:custGeom>
              <a:avLst/>
              <a:gdLst/>
              <a:ahLst/>
              <a:cxnLst/>
              <a:rect r="r" b="b" t="t" l="l"/>
              <a:pathLst>
                <a:path h="6493002" w="6489446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37181" y="4942389"/>
            <a:ext cx="5310749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9"/>
              </a:lnSpc>
              <a:spcBef>
                <a:spcPct val="0"/>
              </a:spcBef>
            </a:pPr>
            <a:r>
              <a:rPr lang="en-US" sz="56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56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reate SQL 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8564" y="3320351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99601" y="7176625"/>
            <a:ext cx="457877" cy="4578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54450" y="5686149"/>
            <a:ext cx="457877" cy="457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54450" y="4121207"/>
            <a:ext cx="457877" cy="4578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99601" y="2758149"/>
            <a:ext cx="457877" cy="4578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1898322">
            <a:off x="-1987267" y="8095155"/>
            <a:ext cx="4891502" cy="4903762"/>
          </a:xfrm>
          <a:custGeom>
            <a:avLst/>
            <a:gdLst/>
            <a:ahLst/>
            <a:cxnLst/>
            <a:rect r="r" b="b" t="t" l="l"/>
            <a:pathLst>
              <a:path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989788" y="3216026"/>
            <a:ext cx="1509738" cy="1509738"/>
          </a:xfrm>
          <a:custGeom>
            <a:avLst/>
            <a:gdLst/>
            <a:ahLst/>
            <a:cxnLst/>
            <a:rect r="r" b="b" t="t" l="l"/>
            <a:pathLst>
              <a:path h="1509738" w="1509738">
                <a:moveTo>
                  <a:pt x="0" y="0"/>
                </a:moveTo>
                <a:lnTo>
                  <a:pt x="1509738" y="0"/>
                </a:lnTo>
                <a:lnTo>
                  <a:pt x="1509738" y="1509738"/>
                </a:lnTo>
                <a:lnTo>
                  <a:pt x="0" y="1509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6312111" y="2297301"/>
            <a:ext cx="639276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Create a temporary SQL 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44581" y="6353745"/>
            <a:ext cx="9920585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df.createOrReplaceTempView("students")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1581" y="5762496"/>
            <a:ext cx="5218743" cy="1680018"/>
            <a:chOff x="0" y="0"/>
            <a:chExt cx="4289760" cy="13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9806" cy="1380998"/>
            </a:xfrm>
            <a:custGeom>
              <a:avLst/>
              <a:gdLst/>
              <a:ahLst/>
              <a:cxnLst/>
              <a:rect r="r" b="b" t="t" l="l"/>
              <a:pathLst>
                <a:path h="1380998" w="4289806">
                  <a:moveTo>
                    <a:pt x="4013454" y="876173"/>
                  </a:moveTo>
                  <a:lnTo>
                    <a:pt x="3530854" y="0"/>
                  </a:lnTo>
                  <a:lnTo>
                    <a:pt x="758825" y="0"/>
                  </a:lnTo>
                  <a:lnTo>
                    <a:pt x="279400" y="876173"/>
                  </a:lnTo>
                  <a:lnTo>
                    <a:pt x="0" y="1380998"/>
                  </a:lnTo>
                  <a:lnTo>
                    <a:pt x="4289806" y="1380998"/>
                  </a:lnTo>
                  <a:lnTo>
                    <a:pt x="4013454" y="87617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72613" y="2568008"/>
            <a:ext cx="3260181" cy="3074486"/>
            <a:chOff x="0" y="0"/>
            <a:chExt cx="2679840" cy="252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9827" cy="2527173"/>
            </a:xfrm>
            <a:custGeom>
              <a:avLst/>
              <a:gdLst/>
              <a:ahLst/>
              <a:cxnLst/>
              <a:rect r="r" b="b" t="t" l="l"/>
              <a:pathLst>
                <a:path h="2527173" w="2679827">
                  <a:moveTo>
                    <a:pt x="1343152" y="0"/>
                  </a:moveTo>
                  <a:lnTo>
                    <a:pt x="0" y="2527173"/>
                  </a:lnTo>
                  <a:lnTo>
                    <a:pt x="2679827" y="2527173"/>
                  </a:lnTo>
                  <a:lnTo>
                    <a:pt x="1343152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72008" y="7581785"/>
            <a:ext cx="7261393" cy="1676515"/>
            <a:chOff x="0" y="0"/>
            <a:chExt cx="5968800" cy="1378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8746" cy="1378077"/>
            </a:xfrm>
            <a:custGeom>
              <a:avLst/>
              <a:gdLst/>
              <a:ahLst/>
              <a:cxnLst/>
              <a:rect r="r" b="b" t="t" l="l"/>
              <a:pathLst>
                <a:path h="1378077" w="5968746">
                  <a:moveTo>
                    <a:pt x="5194173" y="0"/>
                  </a:moveTo>
                  <a:lnTo>
                    <a:pt x="774700" y="0"/>
                  </a:lnTo>
                  <a:lnTo>
                    <a:pt x="0" y="1378077"/>
                  </a:lnTo>
                  <a:lnTo>
                    <a:pt x="5968746" y="1378077"/>
                  </a:lnTo>
                  <a:lnTo>
                    <a:pt x="5194173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03538" y="4321784"/>
            <a:ext cx="2489473" cy="102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b="true" sz="59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72613" y="6035932"/>
            <a:ext cx="3351322" cy="102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b="true" sz="59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72613" y="7813874"/>
            <a:ext cx="3351322" cy="102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6"/>
              </a:lnSpc>
            </a:pPr>
            <a:r>
              <a:rPr lang="en-US" b="true" sz="59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4067" y="537412"/>
            <a:ext cx="7921837" cy="97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4"/>
              </a:lnSpc>
              <a:spcBef>
                <a:spcPct val="0"/>
              </a:spcBef>
            </a:pPr>
            <a:r>
              <a:rPr lang="en-US" b="true" sz="637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</a:t>
            </a:r>
            <a:r>
              <a:rPr lang="en-US" b="true" sz="6370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atistics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316" y="2215322"/>
            <a:ext cx="9571139" cy="188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804" indent="-387902" lvl="1">
              <a:lnSpc>
                <a:spcPts val="5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9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3593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ount total students</a:t>
            </a:r>
          </a:p>
          <a:p>
            <a:pPr algn="l" marL="775804" indent="-387902" lvl="1">
              <a:lnSpc>
                <a:spcPts val="50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93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sleep, CGPA, study hours</a:t>
            </a:r>
          </a:p>
          <a:p>
            <a:pPr algn="l" marL="0" indent="0" lvl="0">
              <a:lnSpc>
                <a:spcPts val="503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36316" y="4316352"/>
            <a:ext cx="8139588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spark.sql("""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COUNT(*) AS total_students,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AVG(Sleep_Duration) AS avg_sleep,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AVG(CGPA) AS avg_cgpa,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AVG(Work_Study_Hours) AS avg_study_hours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 students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""").show()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4905080" y="-4731243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76972" y="-1174265"/>
            <a:ext cx="9192806" cy="11746397"/>
            <a:chOff x="0" y="0"/>
            <a:chExt cx="2421151" cy="30937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1151" cy="3093701"/>
            </a:xfrm>
            <a:custGeom>
              <a:avLst/>
              <a:gdLst/>
              <a:ahLst/>
              <a:cxnLst/>
              <a:rect r="r" b="b" t="t" l="l"/>
              <a:pathLst>
                <a:path h="3093701" w="2421151">
                  <a:moveTo>
                    <a:pt x="0" y="0"/>
                  </a:moveTo>
                  <a:lnTo>
                    <a:pt x="2421151" y="0"/>
                  </a:lnTo>
                  <a:lnTo>
                    <a:pt x="2421151" y="3093701"/>
                  </a:lnTo>
                  <a:lnTo>
                    <a:pt x="0" y="30937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21151" cy="3141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734526">
            <a:off x="-3257078" y="7773230"/>
            <a:ext cx="7347813" cy="7366228"/>
          </a:xfrm>
          <a:custGeom>
            <a:avLst/>
            <a:gdLst/>
            <a:ahLst/>
            <a:cxnLst/>
            <a:rect r="r" b="b" t="t" l="l"/>
            <a:pathLst>
              <a:path h="7366228" w="7347813">
                <a:moveTo>
                  <a:pt x="0" y="0"/>
                </a:moveTo>
                <a:lnTo>
                  <a:pt x="7347812" y="0"/>
                </a:lnTo>
                <a:lnTo>
                  <a:pt x="7347812" y="7366229"/>
                </a:lnTo>
                <a:lnTo>
                  <a:pt x="0" y="7366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22812" y="2277430"/>
            <a:ext cx="8901127" cy="5732139"/>
          </a:xfrm>
          <a:custGeom>
            <a:avLst/>
            <a:gdLst/>
            <a:ahLst/>
            <a:cxnLst/>
            <a:rect r="r" b="b" t="t" l="l"/>
            <a:pathLst>
              <a:path h="5732139" w="8901127">
                <a:moveTo>
                  <a:pt x="0" y="0"/>
                </a:moveTo>
                <a:lnTo>
                  <a:pt x="8901127" y="0"/>
                </a:lnTo>
                <a:lnTo>
                  <a:pt x="8901127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3213" y="842753"/>
            <a:ext cx="5926983" cy="181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6"/>
              </a:lnSpc>
              <a:spcBef>
                <a:spcPct val="0"/>
              </a:spcBef>
            </a:pPr>
            <a:r>
              <a:rPr lang="en-US" b="true" sz="5921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Dep</a:t>
            </a:r>
            <a:r>
              <a:rPr lang="en-US" b="true" sz="5921" strike="noStrike" u="none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ression Distribution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457" y="3452166"/>
            <a:ext cx="6760144" cy="18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088" indent="-301544" lvl="1">
              <a:lnSpc>
                <a:spcPts val="3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79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ount students with/without depression</a:t>
            </a:r>
          </a:p>
          <a:p>
            <a:pPr algn="l" marL="603088" indent="-301544" lvl="1">
              <a:lnSpc>
                <a:spcPts val="3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3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 percentages</a:t>
            </a:r>
          </a:p>
          <a:p>
            <a:pPr algn="l" marL="0" indent="0" lvl="0">
              <a:lnSpc>
                <a:spcPts val="293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194149" y="5762365"/>
            <a:ext cx="7371121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numeric_cols = [f.name for f in df.schema.fields if str(f.dataType) in ('IntegerType','DoubleType')]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i in range(len(numeric_cols)):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for j in range(i+1, len(numeric_cols)):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c1, c2 = numeric_cols[i], numeric_cols[j]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corr_value = df.stat.corr(c1, c2)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print(f"Correlation between {c1} and {c2}: {corr_value:.2f}")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4393785" y="-4549297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-3087120" y="7441242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95398" y="2606869"/>
            <a:ext cx="20498646" cy="6400994"/>
            <a:chOff x="0" y="0"/>
            <a:chExt cx="5398820" cy="16858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98820" cy="1685859"/>
            </a:xfrm>
            <a:custGeom>
              <a:avLst/>
              <a:gdLst/>
              <a:ahLst/>
              <a:cxnLst/>
              <a:rect r="r" b="b" t="t" l="l"/>
              <a:pathLst>
                <a:path h="1685859" w="5398820">
                  <a:moveTo>
                    <a:pt x="0" y="0"/>
                  </a:moveTo>
                  <a:lnTo>
                    <a:pt x="5398820" y="0"/>
                  </a:lnTo>
                  <a:lnTo>
                    <a:pt x="5398820" y="1685859"/>
                  </a:lnTo>
                  <a:lnTo>
                    <a:pt x="0" y="16858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398820" cy="173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69065" y="2606869"/>
            <a:ext cx="10248183" cy="852386"/>
            <a:chOff x="0" y="0"/>
            <a:chExt cx="3156202" cy="2625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56203" cy="262515"/>
            </a:xfrm>
            <a:custGeom>
              <a:avLst/>
              <a:gdLst/>
              <a:ahLst/>
              <a:cxnLst/>
              <a:rect r="r" b="b" t="t" l="l"/>
              <a:pathLst>
                <a:path h="262515" w="3156203">
                  <a:moveTo>
                    <a:pt x="34750" y="0"/>
                  </a:moveTo>
                  <a:lnTo>
                    <a:pt x="3121452" y="0"/>
                  </a:lnTo>
                  <a:cubicBezTo>
                    <a:pt x="3130669" y="0"/>
                    <a:pt x="3139507" y="3661"/>
                    <a:pt x="3146024" y="10178"/>
                  </a:cubicBezTo>
                  <a:cubicBezTo>
                    <a:pt x="3152541" y="16695"/>
                    <a:pt x="3156203" y="25534"/>
                    <a:pt x="3156203" y="34750"/>
                  </a:cubicBezTo>
                  <a:lnTo>
                    <a:pt x="3156203" y="227765"/>
                  </a:lnTo>
                  <a:cubicBezTo>
                    <a:pt x="3156203" y="236981"/>
                    <a:pt x="3152541" y="245820"/>
                    <a:pt x="3146024" y="252337"/>
                  </a:cubicBezTo>
                  <a:cubicBezTo>
                    <a:pt x="3139507" y="258854"/>
                    <a:pt x="3130669" y="262515"/>
                    <a:pt x="3121452" y="262515"/>
                  </a:cubicBezTo>
                  <a:lnTo>
                    <a:pt x="34750" y="262515"/>
                  </a:lnTo>
                  <a:cubicBezTo>
                    <a:pt x="25534" y="262515"/>
                    <a:pt x="16695" y="258854"/>
                    <a:pt x="10178" y="252337"/>
                  </a:cubicBezTo>
                  <a:cubicBezTo>
                    <a:pt x="3661" y="245820"/>
                    <a:pt x="0" y="236981"/>
                    <a:pt x="0" y="227765"/>
                  </a:cubicBezTo>
                  <a:lnTo>
                    <a:pt x="0" y="34750"/>
                  </a:lnTo>
                  <a:cubicBezTo>
                    <a:pt x="0" y="25534"/>
                    <a:pt x="3661" y="16695"/>
                    <a:pt x="10178" y="10178"/>
                  </a:cubicBezTo>
                  <a:cubicBezTo>
                    <a:pt x="16695" y="3661"/>
                    <a:pt x="25534" y="0"/>
                    <a:pt x="347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156202" cy="31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20"/>
                </a:lnSpc>
              </a:pPr>
              <a:r>
                <a:rPr lang="en-US" b="true" sz="23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Recommend programs based on sleep, work, and academic pressure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789556" y="962025"/>
            <a:ext cx="7607201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System (SQL)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9109" y="3656322"/>
            <a:ext cx="13829632" cy="535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 = spark.sql("""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SELECT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id AS ID,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Gender,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Age,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Sleep_Duration,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Work_Pressure,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Work_Study_Hours AS Study_Hours,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Academic_Pressure,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CASE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WHEN Sleep_Duration &lt; 5 THEN 'Recommend Sleep Hygiene Program'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WHEN Work_Pressure &gt; 3 THEN 'Recommend Stress Counseling'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WHEN Academic_Pressure &gt; 3 THEN 'Academic Support and Mentorship'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ELSE 'Regular Wellness Check'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END AS Recommended_Program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 students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""")</a:t>
            </a:r>
          </a:p>
          <a:p>
            <a:pPr algn="ctr">
              <a:lnSpc>
                <a:spcPts val="2373"/>
              </a:lnSpc>
              <a:spcBef>
                <a:spcPct val="0"/>
              </a:spcBef>
            </a:pPr>
            <a:r>
              <a:rPr lang="en-US" sz="169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recommendations.show(10, truncate=False)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3299669" y="5075791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-3784911" y="-3899454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78066" y="0"/>
            <a:ext cx="11368890" cy="157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Risk Scoring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8399" y="2297009"/>
            <a:ext cx="8191202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 sleep to numeric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 Risk Score for each student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829" y="4175339"/>
            <a:ext cx="7535665" cy="614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pyspark.sql.functions import when, col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 = df.withColumn(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"Sleep_Duration_Numeric",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when(col("Sleep_Duration") == "Less than 5 hours", 4.0)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.when(col("Sleep_Duration") == "5-6 hours", 5.5)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.when(col("Sleep_Duration") == "7-8 hours", 7.5)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.when(col("Sleep_Duration") == "More than 8 hours", 9.0)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.otherwise(None)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 = df.withColumn(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"RiskScore",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col("Sleep_Duration_Numeric") * -1 +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col("Work_Pressure") * 2 +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col("Academic_Pressure") * 2 +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col("Work_Study_Hours") * 0.5</a:t>
            </a:r>
          </a:p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3997871" y="-5058956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3487" y="2086897"/>
            <a:ext cx="6218139" cy="62181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6718" y="2299119"/>
            <a:ext cx="5685609" cy="5688763"/>
            <a:chOff x="0" y="0"/>
            <a:chExt cx="6489360" cy="649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89446" cy="6493002"/>
            </a:xfrm>
            <a:custGeom>
              <a:avLst/>
              <a:gdLst/>
              <a:ahLst/>
              <a:cxnLst/>
              <a:rect r="r" b="b" t="t" l="l"/>
              <a:pathLst>
                <a:path h="6493002" w="6489446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37181" y="4942389"/>
            <a:ext cx="5310749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9"/>
              </a:lnSpc>
              <a:spcBef>
                <a:spcPct val="0"/>
              </a:spcBef>
            </a:pPr>
            <a:r>
              <a:rPr lang="en-US" sz="5674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Risk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8564" y="3320351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99601" y="7176625"/>
            <a:ext cx="457877" cy="4578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54450" y="5686149"/>
            <a:ext cx="457877" cy="4578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54450" y="4121207"/>
            <a:ext cx="457877" cy="4578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99601" y="2758149"/>
            <a:ext cx="457877" cy="4578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1898322">
            <a:off x="-1987267" y="8095155"/>
            <a:ext cx="4891502" cy="4903762"/>
          </a:xfrm>
          <a:custGeom>
            <a:avLst/>
            <a:gdLst/>
            <a:ahLst/>
            <a:cxnLst/>
            <a:rect r="r" b="b" t="t" l="l"/>
            <a:pathLst>
              <a:path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989788" y="3216026"/>
            <a:ext cx="1509738" cy="1509738"/>
          </a:xfrm>
          <a:custGeom>
            <a:avLst/>
            <a:gdLst/>
            <a:ahLst/>
            <a:cxnLst/>
            <a:rect r="r" b="b" t="t" l="l"/>
            <a:pathLst>
              <a:path h="1509738" w="1509738">
                <a:moveTo>
                  <a:pt x="0" y="0"/>
                </a:moveTo>
                <a:lnTo>
                  <a:pt x="1509738" y="0"/>
                </a:lnTo>
                <a:lnTo>
                  <a:pt x="1509738" y="1509738"/>
                </a:lnTo>
                <a:lnTo>
                  <a:pt x="0" y="1509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2101903" y="713422"/>
            <a:ext cx="1133415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High, Mod</a:t>
            </a: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erate, Low risk → Recommended program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54450" y="3158876"/>
            <a:ext cx="12137029" cy="713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df.createOrReplaceTempView("students_risk")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risk_recommendations = spark.sql("""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*,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CASE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WHEN RiskScore &gt;= 10 THEN 'High Risk: Intensive Counseling + Mentorship'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WHEN RiskScore &gt;= 5 THEN 'Moderate Risk: Stress &amp; Academic Support'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ELSE 'Low Risk: Regular Wellness Check'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END AS Recommended_Program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students_risk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""")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r>
              <a:rPr lang="en-US" b="true" sz="26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risk_recommendations.show(10, truncate=False)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1465" y="-2544328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5262" y="2090415"/>
            <a:ext cx="852573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RDD Mapping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5423" y="3447056"/>
            <a:ext cx="9664232" cy="5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0"/>
              </a:lnSpc>
              <a:spcBef>
                <a:spcPct val="0"/>
              </a:spcBef>
            </a:pPr>
            <a:r>
              <a:rPr lang="en-US" b="true" sz="309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3093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 each student to risk label using RDD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1208" y="5095875"/>
            <a:ext cx="15089684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rdd = risk_recommendations.rdd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rdd_mapped = rdd.map(lambda row: (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row.id,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row.RiskScore,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"High Risk" if row.RiskScore &gt;= 10 else "Moderate Risk" if row.RiskScore &gt;= 5 else "Low Risk"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))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for item in rdd_mapped.take(10):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   print(item)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993275"/>
            <a:ext cx="8434945" cy="1293725"/>
            <a:chOff x="0" y="0"/>
            <a:chExt cx="2137108" cy="327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09" y="0"/>
            <a:ext cx="8434945" cy="1293725"/>
            <a:chOff x="0" y="0"/>
            <a:chExt cx="2137108" cy="327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52154" y="3359300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36395" y="354872"/>
            <a:ext cx="11122905" cy="255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</a:t>
            </a:r>
            <a:r>
              <a:rPr lang="en-US" b="true" sz="73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indow Function Ranking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30283" y="3359300"/>
            <a:ext cx="595597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Rank students</a:t>
            </a: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by Work Pressure percentile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5862" y="5428258"/>
            <a:ext cx="14476292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pyspark.sql.window import Window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pyspark.sql.functions import percent_rank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windowSpec = Window.orderBy(col("Work_Pressure").desc())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 = df.withColumn("WorkPressureRank", percent_rank().over(windowSpec))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741011"/>
            <a:ext cx="8397219" cy="124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</a:t>
            </a:r>
            <a:r>
              <a:rPr lang="en-US" b="true" sz="73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42898" y="2383306"/>
            <a:ext cx="16983467" cy="47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7"/>
              </a:lnSpc>
              <a:spcBef>
                <a:spcPct val="0"/>
              </a:spcBef>
            </a:pPr>
            <a:r>
              <a:rPr lang="en-US" b="true" sz="2812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Precision, MRR, Coverage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270" y="3320722"/>
            <a:ext cx="17483255" cy="638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from sklearn.metrics import precision_score, classification_report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import pandas as pd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recommendations_pd = pd.DataFrame({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"ID": [1, 2, 3, 4],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"Recommended_Program": ["High Stress Counseling", "Regular Wellness Check", "Sleep Hygiene Program", "Regular Wellness Check"]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})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recommendations_pd['Actual_Program'] = ["High Stress Counseling", "Sleep Hygiene Program", "Sleep Hygiene Program", "Regular Wellness Check"]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precision = precision_score(recommendations_pd['Actual_Program'], recommendations_pd['Recommended_Program'], average='macro')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print(f"Precision: {precision:.4f}")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DAG1ZhRbHtU</dc:identifier>
  <dcterms:modified xsi:type="dcterms:W3CDTF">2011-08-01T06:04:30Z</dcterms:modified>
  <cp:revision>1</cp:revision>
  <dc:title>White and Violet Professional Modern Technology Pitch Deck Presentation</dc:title>
</cp:coreProperties>
</file>